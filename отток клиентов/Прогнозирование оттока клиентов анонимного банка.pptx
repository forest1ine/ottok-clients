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927" autoAdjust="0"/>
  </p:normalViewPr>
  <p:slideViewPr>
    <p:cSldViewPr>
      <p:cViewPr varScale="1">
        <p:scale>
          <a:sx n="96" d="100"/>
          <a:sy n="96" d="100"/>
        </p:scale>
        <p:origin x="-198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16DDA-19A1-4CB4-96D8-B0FD9A83FAFB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1ADE4-696C-492B-B644-3DA087F836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045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1ADE4-696C-492B-B644-3DA087F8363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693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 умолчанию модель использует порог 0.5: если вероятность ухода </a:t>
            </a:r>
            <a:r>
              <a:rPr lang="en-US" dirty="0" smtClean="0"/>
              <a:t>&gt;</a:t>
            </a:r>
            <a:r>
              <a:rPr lang="ru-RU" dirty="0" smtClean="0"/>
              <a:t> 0.5</a:t>
            </a:r>
            <a:r>
              <a:rPr lang="ru-RU" baseline="0" dirty="0" smtClean="0"/>
              <a:t> – клиент считается ушедшим</a:t>
            </a:r>
          </a:p>
          <a:p>
            <a:endParaRPr lang="ru-RU" baseline="0" dirty="0" smtClean="0"/>
          </a:p>
          <a:p>
            <a:r>
              <a:rPr lang="ru-RU" baseline="0" dirty="0" smtClean="0"/>
              <a:t>Мы можем:</a:t>
            </a:r>
          </a:p>
          <a:p>
            <a:endParaRPr lang="ru-RU" baseline="0" dirty="0" smtClean="0"/>
          </a:p>
          <a:p>
            <a:pPr marL="228600" indent="-228600">
              <a:buAutoNum type="arabicParenR"/>
            </a:pPr>
            <a:r>
              <a:rPr lang="ru-RU" baseline="0" dirty="0" smtClean="0"/>
              <a:t>Снизить порог(например, до 0.3) </a:t>
            </a:r>
            <a:r>
              <a:rPr lang="en-US" baseline="0" dirty="0" smtClean="0"/>
              <a:t>-&gt; </a:t>
            </a:r>
            <a:r>
              <a:rPr lang="ru-RU" baseline="0" dirty="0" smtClean="0"/>
              <a:t>больше клиентов</a:t>
            </a:r>
            <a:r>
              <a:rPr lang="en-US" baseline="0" dirty="0" smtClean="0"/>
              <a:t> </a:t>
            </a:r>
            <a:r>
              <a:rPr lang="ru-RU" baseline="0" dirty="0" smtClean="0"/>
              <a:t>будут помечены как уходящие -</a:t>
            </a:r>
            <a:r>
              <a:rPr lang="en-US" baseline="0" dirty="0" smtClean="0"/>
              <a:t>&gt; </a:t>
            </a:r>
            <a:r>
              <a:rPr lang="ru-RU" baseline="0" dirty="0" smtClean="0"/>
              <a:t>увеличится </a:t>
            </a:r>
            <a:r>
              <a:rPr lang="en-US" baseline="0" dirty="0" smtClean="0"/>
              <a:t>TP </a:t>
            </a:r>
            <a:r>
              <a:rPr lang="ru-RU" baseline="0" dirty="0" smtClean="0"/>
              <a:t>И </a:t>
            </a:r>
            <a:r>
              <a:rPr lang="en-US" baseline="0" dirty="0" smtClean="0"/>
              <a:t>FP (</a:t>
            </a:r>
            <a:r>
              <a:rPr lang="ru-RU" baseline="0" dirty="0" smtClean="0"/>
              <a:t>больше ложных срабатываний, но меньше пропущенных</a:t>
            </a:r>
          </a:p>
          <a:p>
            <a:pPr marL="228600" indent="-228600">
              <a:buAutoNum type="arabicParenR"/>
            </a:pPr>
            <a:endParaRPr lang="ru-RU" baseline="0" dirty="0" smtClean="0"/>
          </a:p>
          <a:p>
            <a:pPr marL="228600" indent="-228600">
              <a:buAutoNum type="arabicParenR"/>
            </a:pPr>
            <a:r>
              <a:rPr lang="ru-RU" baseline="0" dirty="0" smtClean="0"/>
              <a:t>Повысить порог(например, до 0.7) -</a:t>
            </a:r>
            <a:r>
              <a:rPr lang="en-US" baseline="0" dirty="0" smtClean="0"/>
              <a:t>&gt; </a:t>
            </a:r>
            <a:r>
              <a:rPr lang="ru-RU" baseline="0" dirty="0" smtClean="0"/>
              <a:t>меньше клиентов будут помечены как уходящие -</a:t>
            </a:r>
            <a:r>
              <a:rPr lang="en-US" baseline="0" dirty="0" smtClean="0"/>
              <a:t>&gt; </a:t>
            </a:r>
            <a:r>
              <a:rPr lang="ru-RU" baseline="0" dirty="0" smtClean="0"/>
              <a:t>уменьшится </a:t>
            </a:r>
            <a:r>
              <a:rPr lang="en-US" baseline="0" dirty="0" smtClean="0"/>
              <a:t>FP, </a:t>
            </a:r>
            <a:r>
              <a:rPr lang="ru-RU" baseline="0" dirty="0" smtClean="0"/>
              <a:t>но увеличится </a:t>
            </a:r>
            <a:r>
              <a:rPr lang="en-US" baseline="0" dirty="0" smtClean="0"/>
              <a:t>FN(</a:t>
            </a:r>
            <a:r>
              <a:rPr lang="ru-RU" baseline="0" dirty="0" smtClean="0"/>
              <a:t>меньше трат, но больше упущенных клиентов)</a:t>
            </a:r>
          </a:p>
          <a:p>
            <a:pPr marL="228600" indent="-228600">
              <a:buAutoNum type="arabicParenR"/>
            </a:pPr>
            <a:endParaRPr lang="ru-RU" baseline="0" dirty="0" smtClean="0"/>
          </a:p>
          <a:p>
            <a:pPr marL="228600" indent="-228600">
              <a:buAutoNum type="arabicParenR"/>
            </a:pPr>
            <a:endParaRPr lang="ru-RU" baseline="0" dirty="0" smtClean="0"/>
          </a:p>
          <a:p>
            <a:pPr marL="228600" indent="-228600">
              <a:buAutoNum type="arabicParenR"/>
            </a:pPr>
            <a:endParaRPr lang="ru-RU" baseline="0" dirty="0" smtClean="0"/>
          </a:p>
          <a:p>
            <a:r>
              <a:rPr lang="en-US" dirty="0" smtClean="0"/>
              <a:t>TP = 727 </a:t>
            </a:r>
            <a:r>
              <a:rPr lang="ru-RU" dirty="0" smtClean="0"/>
              <a:t>– успешно выявлены 72</a:t>
            </a:r>
            <a:r>
              <a:rPr lang="en-US" dirty="0" smtClean="0"/>
              <a:t>% </a:t>
            </a:r>
            <a:r>
              <a:rPr lang="ru-RU" dirty="0" smtClean="0"/>
              <a:t>уходящих клиентов</a:t>
            </a:r>
          </a:p>
          <a:p>
            <a:endParaRPr lang="ru-RU" sz="500" dirty="0" smtClean="0"/>
          </a:p>
          <a:p>
            <a:r>
              <a:rPr lang="en-US" dirty="0" smtClean="0"/>
              <a:t>FN = 282 – </a:t>
            </a:r>
            <a:r>
              <a:rPr lang="ru-RU" dirty="0" smtClean="0"/>
              <a:t>пропущенные клиенты </a:t>
            </a:r>
            <a:r>
              <a:rPr lang="en-US" dirty="0" smtClean="0"/>
              <a:t>-&gt; </a:t>
            </a:r>
            <a:r>
              <a:rPr lang="ru-RU" dirty="0" smtClean="0"/>
              <a:t>риск потери дохода</a:t>
            </a:r>
          </a:p>
          <a:p>
            <a:endParaRPr lang="ru-RU" sz="500" dirty="0" smtClean="0"/>
          </a:p>
          <a:p>
            <a:r>
              <a:rPr lang="en-US" dirty="0" smtClean="0"/>
              <a:t>FP = 301 </a:t>
            </a:r>
            <a:r>
              <a:rPr lang="ru-RU" dirty="0" smtClean="0"/>
              <a:t>– ложные срабатывания -</a:t>
            </a:r>
            <a:r>
              <a:rPr lang="en-US" dirty="0" smtClean="0"/>
              <a:t>&gt;</a:t>
            </a:r>
            <a:r>
              <a:rPr lang="ru-RU" dirty="0" smtClean="0"/>
              <a:t> издержки на удержание</a:t>
            </a:r>
            <a:r>
              <a:rPr lang="en-US" dirty="0" smtClean="0"/>
              <a:t> </a:t>
            </a:r>
            <a:endParaRPr lang="ru-RU" dirty="0" smtClean="0"/>
          </a:p>
          <a:p>
            <a:pPr marL="228600" indent="-228600">
              <a:buAutoNum type="arabicParenR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51ADE4-696C-492B-B644-3DA087F8363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24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1D67DBD-FC0B-448F-A474-FBD687716E05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4B69347-47CC-4BDA-AB17-80996124FB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D67DBD-FC0B-448F-A474-FBD687716E05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B69347-47CC-4BDA-AB17-80996124FB5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D67DBD-FC0B-448F-A474-FBD687716E05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B69347-47CC-4BDA-AB17-80996124FB5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D67DBD-FC0B-448F-A474-FBD687716E05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B69347-47CC-4BDA-AB17-80996124FB5C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D67DBD-FC0B-448F-A474-FBD687716E05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B69347-47CC-4BDA-AB17-80996124FB5C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D67DBD-FC0B-448F-A474-FBD687716E05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B69347-47CC-4BDA-AB17-80996124FB5C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D67DBD-FC0B-448F-A474-FBD687716E05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B69347-47CC-4BDA-AB17-80996124FB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1D67DBD-FC0B-448F-A474-FBD687716E05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B69347-47CC-4BDA-AB17-80996124FB5C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1D67DBD-FC0B-448F-A474-FBD687716E05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4B69347-47CC-4BDA-AB17-80996124FB5C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D67DBD-FC0B-448F-A474-FBD687716E05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B69347-47CC-4BDA-AB17-80996124FB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D67DBD-FC0B-448F-A474-FBD687716E05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4B69347-47CC-4BDA-AB17-80996124FB5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1D67DBD-FC0B-448F-A474-FBD687716E05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4B69347-47CC-4BDA-AB17-80996124FB5C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Прогнозирование оттока клиентов анонимного банка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907090" y="4183931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Выполнила: </a:t>
            </a:r>
            <a:r>
              <a:rPr lang="ru-RU" dirty="0" err="1" smtClean="0"/>
              <a:t>Носачева</a:t>
            </a:r>
            <a:r>
              <a:rPr lang="ru-RU" dirty="0" smtClean="0"/>
              <a:t> Ирина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0775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b="1" dirty="0" smtClean="0"/>
              <a:t>Проблема</a:t>
            </a:r>
            <a:r>
              <a:rPr lang="ru-RU" dirty="0" smtClean="0"/>
              <a:t> - </a:t>
            </a:r>
            <a:r>
              <a:rPr lang="ru-RU" sz="2000" dirty="0"/>
              <a:t>привлечение нового клиента обходится дороже, чем удержание </a:t>
            </a:r>
            <a:r>
              <a:rPr lang="ru-RU" sz="2000" dirty="0" smtClean="0"/>
              <a:t>существующего. </a:t>
            </a:r>
            <a:r>
              <a:rPr lang="ru-RU" sz="2000" dirty="0"/>
              <a:t>Предотвращение оттока позволяет банкам разрабатывать программы </a:t>
            </a:r>
            <a:r>
              <a:rPr lang="ru-RU" sz="2000" dirty="0" smtClean="0"/>
              <a:t>лояльности, </a:t>
            </a:r>
            <a:r>
              <a:rPr lang="ru-RU" sz="2000" dirty="0"/>
              <a:t>направленные на сохранение максимального числа </a:t>
            </a:r>
            <a:r>
              <a:rPr lang="ru-RU" sz="2000" dirty="0" smtClean="0"/>
              <a:t>клиентов</a:t>
            </a:r>
            <a:r>
              <a:rPr lang="ru-RU" sz="2400" dirty="0" smtClean="0"/>
              <a:t>.</a:t>
            </a:r>
          </a:p>
          <a:p>
            <a:endParaRPr lang="ru-RU" sz="2400" dirty="0"/>
          </a:p>
          <a:p>
            <a:r>
              <a:rPr lang="ru-RU" sz="2400" b="1" dirty="0" smtClean="0"/>
              <a:t>Задачи проекта </a:t>
            </a:r>
            <a:r>
              <a:rPr lang="ru-RU" sz="2400" dirty="0" smtClean="0"/>
              <a:t>– провести анализ данных </a:t>
            </a:r>
            <a:r>
              <a:rPr lang="ru-RU" sz="2400" dirty="0"/>
              <a:t>оттока </a:t>
            </a:r>
            <a:r>
              <a:rPr lang="ru-RU" sz="2400" dirty="0" smtClean="0"/>
              <a:t>клиентов, построить модель прогноза ухода клиентов, выявить ключевые драйверы оттока и предложить рекомендации по удержанию.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Постановка проблемы и задач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952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400" dirty="0"/>
              <a:t>Нам предоставлен </a:t>
            </a:r>
            <a:r>
              <a:rPr lang="ru-RU" sz="1400" dirty="0" err="1"/>
              <a:t>датасет</a:t>
            </a:r>
            <a:r>
              <a:rPr lang="ru-RU" sz="1400" dirty="0"/>
              <a:t> в виде файла </a:t>
            </a:r>
            <a:r>
              <a:rPr lang="ru-RU" sz="1400" i="1" dirty="0"/>
              <a:t>Customer-Churn.csv</a:t>
            </a:r>
            <a:r>
              <a:rPr lang="ru-RU" sz="1400" dirty="0"/>
              <a:t>, со следующим набором признаков</a:t>
            </a:r>
            <a:r>
              <a:rPr lang="ru-RU" sz="1400" dirty="0" smtClean="0"/>
              <a:t>: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CreditScore</a:t>
            </a:r>
            <a:r>
              <a:rPr lang="ru-RU" sz="1400" dirty="0"/>
              <a:t> — кредитный рейтинг клиента.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Geography</a:t>
            </a:r>
            <a:r>
              <a:rPr lang="ru-RU" sz="1400" dirty="0"/>
              <a:t> — местоположение клиента.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Gender</a:t>
            </a:r>
            <a:r>
              <a:rPr lang="ru-RU" sz="1400" dirty="0"/>
              <a:t> — пол клиента.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Age</a:t>
            </a:r>
            <a:r>
              <a:rPr lang="ru-RU" sz="1400" dirty="0"/>
              <a:t> — возраст.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Tenure</a:t>
            </a:r>
            <a:r>
              <a:rPr lang="ru-RU" sz="1400" dirty="0"/>
              <a:t> — количество лет, в течение которых клиент является клиентом банка.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Balance</a:t>
            </a:r>
            <a:r>
              <a:rPr lang="ru-RU" sz="1400" dirty="0"/>
              <a:t> — баланс на счетах клиента.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NumOfProducts</a:t>
            </a:r>
            <a:r>
              <a:rPr lang="ru-RU" sz="1400" dirty="0"/>
              <a:t> — количество используемых клиентом продуктов банка.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HasCrCard</a:t>
            </a:r>
            <a:r>
              <a:rPr lang="ru-RU" sz="1400" dirty="0"/>
              <a:t> — наличие у клиента кредитной карты.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IsActiveMember</a:t>
            </a:r>
            <a:r>
              <a:rPr lang="ru-RU" sz="1400" dirty="0"/>
              <a:t> — признак активного клиента.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EstimatedSalary</a:t>
            </a:r>
            <a:r>
              <a:rPr lang="ru-RU" sz="1400" dirty="0"/>
              <a:t> — прогнозируемый доход.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Exited</a:t>
            </a:r>
            <a:r>
              <a:rPr lang="ru-RU" sz="1400" dirty="0"/>
              <a:t> — покинул ли клиент банк.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Complain</a:t>
            </a:r>
            <a:r>
              <a:rPr lang="ru-RU" sz="1400" dirty="0"/>
              <a:t> — наличие у клиента жалобы.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Satisfaction</a:t>
            </a:r>
            <a:r>
              <a:rPr lang="ru-RU" sz="1400" dirty="0" smtClean="0"/>
              <a:t> </a:t>
            </a:r>
            <a:r>
              <a:rPr lang="ru-RU" sz="1400" dirty="0" err="1"/>
              <a:t>Score</a:t>
            </a:r>
            <a:r>
              <a:rPr lang="ru-RU" sz="1400" dirty="0"/>
              <a:t> — оценка, предоставляемая клиентом за разрешение его жалобы.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Card</a:t>
            </a:r>
            <a:r>
              <a:rPr lang="ru-RU" sz="1400" dirty="0" smtClean="0"/>
              <a:t> </a:t>
            </a:r>
            <a:r>
              <a:rPr lang="ru-RU" sz="1400" dirty="0" err="1"/>
              <a:t>Type</a:t>
            </a:r>
            <a:r>
              <a:rPr lang="ru-RU" sz="1400" dirty="0"/>
              <a:t> — тип карты, которой владеет клиент.</a:t>
            </a:r>
          </a:p>
          <a:p>
            <a:pPr marL="109728" indent="0">
              <a:buNone/>
            </a:pPr>
            <a:r>
              <a:rPr lang="ru-RU" sz="1400" dirty="0" smtClean="0"/>
              <a:t>	</a:t>
            </a:r>
            <a:r>
              <a:rPr lang="ru-RU" sz="1400" dirty="0" err="1" smtClean="0"/>
              <a:t>Point</a:t>
            </a:r>
            <a:r>
              <a:rPr lang="ru-RU" sz="1400" dirty="0" smtClean="0"/>
              <a:t> </a:t>
            </a:r>
            <a:r>
              <a:rPr lang="ru-RU" sz="1400" dirty="0" err="1"/>
              <a:t>Earned</a:t>
            </a:r>
            <a:r>
              <a:rPr lang="ru-RU" sz="1400" dirty="0"/>
              <a:t> — баллы, начисленные клиенту за использование кредитной карты.</a:t>
            </a:r>
          </a:p>
          <a:p>
            <a:endParaRPr lang="ru-RU" sz="14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</a:t>
            </a:r>
            <a:r>
              <a:rPr lang="ru-RU" dirty="0" err="1" smtClean="0"/>
              <a:t>датасета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667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>
              <a:lnSpc>
                <a:spcPct val="150000"/>
              </a:lnSpc>
            </a:pPr>
            <a:r>
              <a:rPr lang="ru-RU" dirty="0" smtClean="0"/>
              <a:t>Предобработка</a:t>
            </a:r>
            <a:r>
              <a:rPr lang="en-US" dirty="0" smtClean="0"/>
              <a:t>(</a:t>
            </a:r>
            <a:r>
              <a:rPr lang="ru-RU" dirty="0" smtClean="0"/>
              <a:t>работа с пропусками и аномалиями</a:t>
            </a:r>
            <a:r>
              <a:rPr lang="en-US" dirty="0" smtClean="0"/>
              <a:t>)</a:t>
            </a:r>
            <a:endParaRPr lang="ru-RU" dirty="0" smtClean="0"/>
          </a:p>
          <a:p>
            <a:pPr marL="393192" lvl="1" indent="0">
              <a:lnSpc>
                <a:spcPct val="150000"/>
              </a:lnSpc>
              <a:buNone/>
            </a:pPr>
            <a:r>
              <a:rPr lang="ru-RU" dirty="0" smtClean="0"/>
              <a:t>  </a:t>
            </a:r>
          </a:p>
          <a:p>
            <a:pPr lvl="1">
              <a:lnSpc>
                <a:spcPct val="150000"/>
              </a:lnSpc>
            </a:pPr>
            <a:r>
              <a:rPr lang="ru-RU" dirty="0" err="1" smtClean="0"/>
              <a:t>Разведовочный</a:t>
            </a:r>
            <a:r>
              <a:rPr lang="ru-RU" dirty="0" smtClean="0"/>
              <a:t> анализ(проверка гипотез и поиск закономерностей)</a:t>
            </a:r>
          </a:p>
          <a:p>
            <a:pPr marL="393192" lvl="1" indent="0">
              <a:lnSpc>
                <a:spcPct val="150000"/>
              </a:lnSpc>
              <a:buNone/>
            </a:pPr>
            <a:endParaRPr lang="ru-RU" dirty="0"/>
          </a:p>
          <a:p>
            <a:pPr lvl="1">
              <a:lnSpc>
                <a:spcPct val="150000"/>
              </a:lnSpc>
            </a:pPr>
            <a:r>
              <a:rPr lang="ru-RU" dirty="0" smtClean="0"/>
              <a:t>Моделирование</a:t>
            </a:r>
            <a:r>
              <a:rPr lang="ru-RU" dirty="0"/>
              <a:t>: обучение </a:t>
            </a:r>
            <a:r>
              <a:rPr lang="ru-RU" dirty="0" smtClean="0"/>
              <a:t>модели случайный лес </a:t>
            </a:r>
            <a:r>
              <a:rPr lang="ru-RU" dirty="0"/>
              <a:t>на </a:t>
            </a:r>
            <a:r>
              <a:rPr lang="ru-RU" dirty="0" err="1" smtClean="0"/>
              <a:t>гиперпараметрах</a:t>
            </a:r>
            <a:endParaRPr lang="ru-RU" dirty="0" smtClean="0"/>
          </a:p>
          <a:p>
            <a:pPr marL="393192" lvl="1" indent="0">
              <a:lnSpc>
                <a:spcPct val="150000"/>
              </a:lnSpc>
              <a:buNone/>
            </a:pPr>
            <a:endParaRPr lang="ru-RU" dirty="0" smtClean="0"/>
          </a:p>
          <a:p>
            <a:pPr lvl="1">
              <a:lnSpc>
                <a:spcPct val="150000"/>
              </a:lnSpc>
            </a:pPr>
            <a:r>
              <a:rPr lang="ru-RU" dirty="0" smtClean="0"/>
              <a:t>Оценка </a:t>
            </a:r>
            <a:r>
              <a:rPr lang="ru-RU" dirty="0"/>
              <a:t>качества: AUC, </a:t>
            </a:r>
            <a:r>
              <a:rPr lang="ru-RU" dirty="0" err="1"/>
              <a:t>Precision</a:t>
            </a:r>
            <a:r>
              <a:rPr lang="ru-RU" dirty="0"/>
              <a:t>, </a:t>
            </a:r>
            <a:r>
              <a:rPr lang="ru-RU" dirty="0" err="1"/>
              <a:t>Recall</a:t>
            </a:r>
            <a:r>
              <a:rPr lang="ru-RU" dirty="0"/>
              <a:t>, матрица ошибок, </a:t>
            </a:r>
            <a:r>
              <a:rPr lang="ru-RU" dirty="0" smtClean="0"/>
              <a:t>кросс</a:t>
            </a:r>
            <a:r>
              <a:rPr lang="en-US" dirty="0" smtClean="0"/>
              <a:t>-</a:t>
            </a:r>
            <a:r>
              <a:rPr lang="ru-RU" dirty="0" err="1" smtClean="0"/>
              <a:t>валидация</a:t>
            </a:r>
            <a:endParaRPr lang="ru-RU" dirty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Методология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671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51519" y="1412776"/>
            <a:ext cx="8712967" cy="4752528"/>
          </a:xfrm>
        </p:spPr>
        <p:txBody>
          <a:bodyPr>
            <a:normAutofit fontScale="92500" lnSpcReduction="10000"/>
          </a:bodyPr>
          <a:lstStyle/>
          <a:p>
            <a:pPr marL="109728" indent="0">
              <a:lnSpc>
                <a:spcPct val="150000"/>
              </a:lnSpc>
              <a:buNone/>
            </a:pPr>
            <a:r>
              <a:rPr lang="ru-RU" sz="2400" b="1" dirty="0"/>
              <a:t>Ключевые драйверы оттока</a:t>
            </a:r>
            <a:r>
              <a:rPr lang="ru-RU" sz="1600" dirty="0" smtClean="0"/>
              <a:t>:</a:t>
            </a:r>
            <a:endParaRPr lang="ru-RU" sz="1600" dirty="0"/>
          </a:p>
          <a:p>
            <a:pPr marL="109728" indent="0">
              <a:lnSpc>
                <a:spcPct val="150000"/>
              </a:lnSpc>
              <a:buNone/>
            </a:pPr>
            <a:r>
              <a:rPr lang="ru-RU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1)  </a:t>
            </a:r>
            <a:r>
              <a:rPr lang="ru-RU" sz="1600" dirty="0" smtClean="0"/>
              <a:t>Жалоба </a:t>
            </a:r>
            <a:r>
              <a:rPr lang="ru-RU" sz="1600" dirty="0"/>
              <a:t>= почти </a:t>
            </a:r>
            <a:r>
              <a:rPr lang="ru-RU" sz="1600" dirty="0" smtClean="0"/>
              <a:t>гарантированный </a:t>
            </a:r>
            <a:r>
              <a:rPr lang="ru-RU" sz="1600" dirty="0"/>
              <a:t>уход</a:t>
            </a:r>
          </a:p>
          <a:p>
            <a:endParaRPr lang="ru-RU" sz="1600" dirty="0"/>
          </a:p>
          <a:p>
            <a:endParaRPr lang="ru-RU" sz="1600" dirty="0" smtClean="0"/>
          </a:p>
          <a:p>
            <a:endParaRPr lang="ru-RU" sz="1600" dirty="0"/>
          </a:p>
          <a:p>
            <a:pPr marL="109728" indent="0">
              <a:buNone/>
            </a:pPr>
            <a:endParaRPr lang="ru-RU" sz="1600" dirty="0" smtClean="0"/>
          </a:p>
          <a:p>
            <a:endParaRPr lang="ru-RU" sz="1600" dirty="0"/>
          </a:p>
          <a:p>
            <a:pPr marL="109728" indent="0">
              <a:buNone/>
            </a:pPr>
            <a:endParaRPr lang="ru-RU" sz="1600" dirty="0"/>
          </a:p>
          <a:p>
            <a:pPr marL="109728" indent="0">
              <a:buNone/>
            </a:pPr>
            <a:endParaRPr lang="ru-RU" sz="1600" dirty="0" smtClean="0"/>
          </a:p>
          <a:p>
            <a:pPr marL="109728" indent="0">
              <a:buNone/>
            </a:pPr>
            <a:endParaRPr lang="en-US" sz="1600" dirty="0" smtClean="0"/>
          </a:p>
          <a:p>
            <a:pPr marL="109728" indent="0">
              <a:buNone/>
            </a:pPr>
            <a:endParaRPr lang="en-US" sz="1600" dirty="0"/>
          </a:p>
          <a:p>
            <a:pPr marL="109728" indent="0">
              <a:buNone/>
            </a:pPr>
            <a:endParaRPr lang="en-US" sz="1600" dirty="0" smtClean="0"/>
          </a:p>
          <a:p>
            <a:pPr marL="109728" indent="0">
              <a:buNone/>
            </a:pPr>
            <a:endParaRPr lang="en-US" sz="1600" dirty="0"/>
          </a:p>
          <a:p>
            <a:pPr marL="109728" indent="0">
              <a:buNone/>
            </a:pPr>
            <a:endParaRPr lang="ru-RU" sz="1600" dirty="0" smtClean="0"/>
          </a:p>
          <a:p>
            <a:pPr marL="109728" indent="0">
              <a:buNone/>
            </a:pPr>
            <a:r>
              <a:rPr lang="ru-RU" sz="1600" dirty="0" smtClean="0"/>
              <a:t>Клиенты</a:t>
            </a:r>
            <a:r>
              <a:rPr lang="ru-RU" sz="1600" dirty="0"/>
              <a:t>, подавшие жалобу, уходят в ~71% случаев - независимо от того, как была решена </a:t>
            </a:r>
            <a:r>
              <a:rPr lang="ru-RU" sz="1600" dirty="0" smtClean="0"/>
              <a:t>проблема - те</a:t>
            </a:r>
            <a:r>
              <a:rPr lang="ru-RU" sz="1600" dirty="0"/>
              <a:t>, кто не жаловался, уходят в ~7% случаев</a:t>
            </a:r>
          </a:p>
          <a:p>
            <a:endParaRPr lang="ru-RU" sz="16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Разведовочный</a:t>
            </a:r>
            <a:r>
              <a:rPr lang="ru-RU" dirty="0" smtClean="0"/>
              <a:t> анализ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012160" y="2348880"/>
            <a:ext cx="34563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Общий уровень оттока: 20.2%</a:t>
            </a:r>
          </a:p>
          <a:p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52236"/>
            <a:ext cx="2304255" cy="2196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2483130"/>
            <a:ext cx="4176464" cy="2852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656656"/>
            <a:ext cx="3767023" cy="2747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79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ru-RU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2) </a:t>
            </a:r>
            <a:r>
              <a:rPr lang="ru-RU" sz="2000" dirty="0" smtClean="0"/>
              <a:t>Наличие 3-4 продуктов банка</a:t>
            </a:r>
            <a:endParaRPr lang="ru-RU" sz="20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/>
          <a:lstStyle/>
          <a:p>
            <a:r>
              <a:rPr lang="ru-RU" dirty="0" err="1"/>
              <a:t>Разведовочный</a:t>
            </a:r>
            <a:r>
              <a:rPr lang="ru-RU" dirty="0"/>
              <a:t> анализ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66" y="1916832"/>
            <a:ext cx="5265164" cy="3581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616" y="1968810"/>
            <a:ext cx="3456384" cy="3477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39552" y="5498058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Клиенты, пользующиеся всеми продуктами банка уходят в разы чаще, даже если они считаются активными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202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Разведовочный</a:t>
            </a:r>
            <a:r>
              <a:rPr lang="ru-RU" dirty="0" smtClean="0"/>
              <a:t> анализ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3) </a:t>
            </a:r>
            <a:r>
              <a:rPr lang="ru-RU" sz="2400" dirty="0" smtClean="0"/>
              <a:t>Высокий баланс – </a:t>
            </a:r>
            <a:r>
              <a:rPr lang="ru-RU" sz="2000" dirty="0"/>
              <a:t>Клиенты с самым высоким балансом уходят </a:t>
            </a:r>
            <a:r>
              <a:rPr lang="ru-RU" sz="2000" dirty="0" smtClean="0"/>
              <a:t>более </a:t>
            </a:r>
            <a:r>
              <a:rPr lang="ru-RU" sz="2000" dirty="0"/>
              <a:t>чем в 2 раза чаще чем те, у кого нулевой </a:t>
            </a:r>
            <a:r>
              <a:rPr lang="ru-RU" sz="2000" dirty="0" smtClean="0"/>
              <a:t>или минимальный баланс</a:t>
            </a:r>
            <a:r>
              <a:rPr lang="ru-RU" sz="2000" dirty="0"/>
              <a:t>.</a:t>
            </a:r>
            <a:endParaRPr lang="ru-RU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73" y="2564904"/>
            <a:ext cx="4746027" cy="3041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700" y="2462324"/>
            <a:ext cx="3705914" cy="2815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269700" y="5390778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Каждый третий </a:t>
            </a:r>
            <a:r>
              <a:rPr lang="ru-RU" u="sng" dirty="0" smtClean="0"/>
              <a:t>активный</a:t>
            </a:r>
            <a:r>
              <a:rPr lang="ru-RU" dirty="0" smtClean="0"/>
              <a:t> клиент с высоким балансом уйдет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355976" y="6281009"/>
            <a:ext cx="4788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</a:t>
            </a:r>
            <a:r>
              <a:rPr lang="ru-RU" dirty="0" smtClean="0"/>
              <a:t>роблема </a:t>
            </a:r>
            <a:r>
              <a:rPr lang="ru-RU" dirty="0"/>
              <a:t>удержания богатых клиентов</a:t>
            </a:r>
          </a:p>
        </p:txBody>
      </p:sp>
      <p:sp>
        <p:nvSpPr>
          <p:cNvPr id="8" name="Стрелка вниз 7"/>
          <p:cNvSpPr/>
          <p:nvPr/>
        </p:nvSpPr>
        <p:spPr>
          <a:xfrm>
            <a:off x="7122657" y="5949280"/>
            <a:ext cx="45719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342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Портреты клиентов оттока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552" y="1412776"/>
            <a:ext cx="4040188" cy="762000"/>
          </a:xfrm>
        </p:spPr>
        <p:txBody>
          <a:bodyPr>
            <a:normAutofit/>
          </a:bodyPr>
          <a:lstStyle/>
          <a:p>
            <a:r>
              <a:rPr lang="ru-RU" sz="2000" dirty="0" smtClean="0"/>
              <a:t>«Перегруженный</a:t>
            </a:r>
            <a:r>
              <a:rPr lang="ru-RU" sz="2000" dirty="0"/>
              <a:t>" </a:t>
            </a:r>
            <a:r>
              <a:rPr lang="ru-RU" sz="2000" dirty="0" smtClean="0"/>
              <a:t>клиент</a:t>
            </a:r>
            <a:endParaRPr lang="ru-RU" sz="20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4008" y="1412776"/>
            <a:ext cx="4041775" cy="762000"/>
          </a:xfrm>
        </p:spPr>
        <p:txBody>
          <a:bodyPr>
            <a:normAutofit/>
          </a:bodyPr>
          <a:lstStyle/>
          <a:p>
            <a:r>
              <a:rPr lang="ru-RU" sz="2000" dirty="0"/>
              <a:t>Богатый и недовольный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67544" y="2204864"/>
            <a:ext cx="4040188" cy="3941763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В</a:t>
            </a:r>
            <a:r>
              <a:rPr lang="ru-RU" dirty="0" smtClean="0"/>
              <a:t>озраст</a:t>
            </a:r>
            <a:r>
              <a:rPr lang="ru-RU" dirty="0"/>
              <a:t>: 40-50    </a:t>
            </a:r>
            <a:endParaRPr lang="ru-RU" dirty="0" smtClean="0"/>
          </a:p>
          <a:p>
            <a:r>
              <a:rPr lang="ru-RU" dirty="0"/>
              <a:t>К</a:t>
            </a:r>
            <a:r>
              <a:rPr lang="ru-RU" dirty="0" smtClean="0"/>
              <a:t>оличество </a:t>
            </a:r>
            <a:r>
              <a:rPr lang="ru-RU" dirty="0"/>
              <a:t>продуктов:3-4    </a:t>
            </a:r>
            <a:endParaRPr lang="ru-RU" dirty="0" smtClean="0"/>
          </a:p>
          <a:p>
            <a:r>
              <a:rPr lang="ru-RU" dirty="0"/>
              <a:t>Б</a:t>
            </a:r>
            <a:r>
              <a:rPr lang="ru-RU" dirty="0" smtClean="0"/>
              <a:t>аланс</a:t>
            </a:r>
            <a:r>
              <a:rPr lang="ru-RU" dirty="0"/>
              <a:t>: </a:t>
            </a:r>
            <a:r>
              <a:rPr lang="ru-RU" dirty="0" smtClean="0"/>
              <a:t>средний/низкий    </a:t>
            </a:r>
          </a:p>
          <a:p>
            <a:r>
              <a:rPr lang="ru-RU" dirty="0" smtClean="0"/>
              <a:t>Активность</a:t>
            </a:r>
            <a:r>
              <a:rPr lang="ru-RU" dirty="0"/>
              <a:t>: </a:t>
            </a:r>
            <a:r>
              <a:rPr lang="ru-RU" dirty="0" smtClean="0"/>
              <a:t>неактивный</a:t>
            </a:r>
          </a:p>
          <a:p>
            <a:r>
              <a:rPr lang="ru-RU" dirty="0"/>
              <a:t>Г</a:t>
            </a:r>
            <a:r>
              <a:rPr lang="ru-RU" dirty="0" smtClean="0"/>
              <a:t>еография</a:t>
            </a:r>
            <a:r>
              <a:rPr lang="ru-RU" dirty="0"/>
              <a:t>: </a:t>
            </a:r>
            <a:r>
              <a:rPr lang="ru-RU" dirty="0" smtClean="0"/>
              <a:t>Германия    </a:t>
            </a:r>
          </a:p>
          <a:p>
            <a:r>
              <a:rPr lang="ru-RU" dirty="0"/>
              <a:t>Ж</a:t>
            </a:r>
            <a:r>
              <a:rPr lang="ru-RU" dirty="0" smtClean="0"/>
              <a:t>алоба</a:t>
            </a:r>
            <a:r>
              <a:rPr lang="ru-RU" dirty="0"/>
              <a:t>: была    </a:t>
            </a:r>
            <a:endParaRPr lang="ru-RU" dirty="0" smtClean="0"/>
          </a:p>
          <a:p>
            <a:pPr marL="109728" indent="0">
              <a:buNone/>
            </a:pPr>
            <a:endParaRPr lang="ru-RU" dirty="0" smtClean="0"/>
          </a:p>
          <a:p>
            <a:pPr marL="109728" indent="0">
              <a:buNone/>
            </a:pPr>
            <a:endParaRPr lang="ru-RU" dirty="0"/>
          </a:p>
          <a:p>
            <a:pPr>
              <a:buFont typeface="Wingdings" panose="05000000000000000000" pitchFamily="2" charset="2"/>
              <a:buChar char="v"/>
            </a:pPr>
            <a:r>
              <a:rPr lang="ru-RU" dirty="0"/>
              <a:t>О</a:t>
            </a:r>
            <a:r>
              <a:rPr lang="ru-RU" dirty="0" smtClean="0"/>
              <a:t>тток</a:t>
            </a:r>
            <a:r>
              <a:rPr lang="ru-RU" dirty="0"/>
              <a:t>: до 60</a:t>
            </a:r>
            <a:r>
              <a:rPr lang="ru-RU" dirty="0" smtClean="0"/>
              <a:t>%</a:t>
            </a:r>
          </a:p>
          <a:p>
            <a:pPr marL="109728" indent="0">
              <a:buNone/>
            </a:pPr>
            <a:endParaRPr lang="ru-RU" dirty="0" smtClean="0"/>
          </a:p>
          <a:p>
            <a:pPr marL="109728" indent="0">
              <a:buNone/>
            </a:pPr>
            <a:r>
              <a:rPr lang="ru-RU" sz="2100" dirty="0"/>
              <a:t>В</a:t>
            </a:r>
            <a:r>
              <a:rPr lang="ru-RU" sz="2100" dirty="0" smtClean="0"/>
              <a:t>озможно</a:t>
            </a:r>
            <a:r>
              <a:rPr lang="ru-RU" sz="2100" dirty="0"/>
              <a:t>, банк 'навязал' продукты, но не дал поддержки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4008" y="2204864"/>
            <a:ext cx="4041775" cy="4653136"/>
          </a:xfrm>
        </p:spPr>
        <p:txBody>
          <a:bodyPr>
            <a:normAutofit/>
          </a:bodyPr>
          <a:lstStyle/>
          <a:p>
            <a:r>
              <a:rPr lang="ru-RU" sz="2000" dirty="0"/>
              <a:t>Б</a:t>
            </a:r>
            <a:r>
              <a:rPr lang="ru-RU" sz="2000" dirty="0" smtClean="0"/>
              <a:t>аланс</a:t>
            </a:r>
            <a:r>
              <a:rPr lang="ru-RU" sz="2000" dirty="0"/>
              <a:t>: очень высокий (более 200к) </a:t>
            </a:r>
            <a:r>
              <a:rPr lang="ru-RU" sz="2000" dirty="0" smtClean="0"/>
              <a:t> </a:t>
            </a:r>
          </a:p>
          <a:p>
            <a:r>
              <a:rPr lang="ru-RU" sz="2000" dirty="0"/>
              <a:t>А</a:t>
            </a:r>
            <a:r>
              <a:rPr lang="ru-RU" sz="2000" dirty="0" smtClean="0"/>
              <a:t>ктивность</a:t>
            </a:r>
            <a:r>
              <a:rPr lang="ru-RU" sz="2000" dirty="0"/>
              <a:t>: активный    </a:t>
            </a:r>
            <a:endParaRPr lang="ru-RU" sz="2000" dirty="0" smtClean="0"/>
          </a:p>
          <a:p>
            <a:r>
              <a:rPr lang="ru-RU" sz="2000" dirty="0"/>
              <a:t>Г</a:t>
            </a:r>
            <a:r>
              <a:rPr lang="ru-RU" sz="2000" dirty="0" smtClean="0"/>
              <a:t>еография</a:t>
            </a:r>
            <a:r>
              <a:rPr lang="ru-RU" sz="2000" dirty="0"/>
              <a:t>: Германия    </a:t>
            </a:r>
            <a:endParaRPr lang="ru-RU" sz="2000" dirty="0" smtClean="0"/>
          </a:p>
          <a:p>
            <a:r>
              <a:rPr lang="ru-RU" sz="2000" dirty="0"/>
              <a:t>Ж</a:t>
            </a:r>
            <a:r>
              <a:rPr lang="ru-RU" sz="2000" dirty="0" smtClean="0"/>
              <a:t>алоба</a:t>
            </a:r>
            <a:r>
              <a:rPr lang="ru-RU" sz="2000" dirty="0"/>
              <a:t>: была </a:t>
            </a:r>
            <a:endParaRPr lang="ru-RU" sz="2000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pPr>
              <a:buFont typeface="Wingdings" panose="05000000000000000000" pitchFamily="2" charset="2"/>
              <a:buChar char="v"/>
            </a:pPr>
            <a:r>
              <a:rPr lang="ru-RU" sz="2000" dirty="0"/>
              <a:t>О</a:t>
            </a:r>
            <a:r>
              <a:rPr lang="ru-RU" sz="2000" dirty="0" smtClean="0"/>
              <a:t>тток </a:t>
            </a:r>
            <a:r>
              <a:rPr lang="ru-RU" sz="2000" dirty="0"/>
              <a:t>до </a:t>
            </a:r>
            <a:r>
              <a:rPr lang="ru-RU" sz="2000" dirty="0" smtClean="0"/>
              <a:t>36%</a:t>
            </a:r>
          </a:p>
          <a:p>
            <a:pPr marL="109728" indent="0">
              <a:buNone/>
            </a:pPr>
            <a:endParaRPr lang="ru-RU" dirty="0"/>
          </a:p>
          <a:p>
            <a:pPr marL="109728" indent="0">
              <a:buNone/>
            </a:pPr>
            <a:r>
              <a:rPr lang="ru-RU" sz="1800" dirty="0" smtClean="0"/>
              <a:t>Клиент </a:t>
            </a:r>
            <a:r>
              <a:rPr lang="ru-RU" sz="1800" dirty="0"/>
              <a:t>ценный, но не получает персонального сервиса</a:t>
            </a:r>
          </a:p>
        </p:txBody>
      </p:sp>
    </p:spTree>
    <p:extLst>
      <p:ext uri="{BB962C8B-B14F-4D97-AF65-F5344CB8AC3E}">
        <p14:creationId xmlns:p14="http://schemas.microsoft.com/office/powerpoint/2010/main" val="388941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ru-RU" dirty="0" smtClean="0"/>
              <a:t>1) Ввести </a:t>
            </a:r>
            <a:r>
              <a:rPr lang="ru-RU" dirty="0"/>
              <a:t>персональных менеджеров: </a:t>
            </a:r>
            <a:br>
              <a:rPr lang="ru-RU" dirty="0"/>
            </a:br>
            <a:r>
              <a:rPr lang="ru-RU" dirty="0" smtClean="0"/>
              <a:t>     </a:t>
            </a:r>
            <a:r>
              <a:rPr lang="ru-RU" dirty="0" smtClean="0">
                <a:solidFill>
                  <a:srgbClr val="FF0000"/>
                </a:solidFill>
              </a:rPr>
              <a:t>-</a:t>
            </a:r>
            <a:r>
              <a:rPr lang="ru-RU" dirty="0" smtClean="0"/>
              <a:t> </a:t>
            </a:r>
            <a:r>
              <a:rPr lang="ru-RU" sz="2100" dirty="0" smtClean="0"/>
              <a:t>для </a:t>
            </a:r>
            <a:r>
              <a:rPr lang="ru-RU" sz="2100" dirty="0"/>
              <a:t>клиентов с 3+ продуктами </a:t>
            </a:r>
            <a:endParaRPr lang="ru-RU" sz="2100" dirty="0" smtClean="0"/>
          </a:p>
          <a:p>
            <a:pPr marL="109728" indent="0">
              <a:buNone/>
            </a:pPr>
            <a:r>
              <a:rPr lang="ru-RU" sz="2100" dirty="0" smtClean="0"/>
              <a:t>       </a:t>
            </a:r>
            <a:r>
              <a:rPr lang="ru-RU" sz="2100" dirty="0" smtClean="0">
                <a:solidFill>
                  <a:srgbClr val="FF0000"/>
                </a:solidFill>
              </a:rPr>
              <a:t>-</a:t>
            </a:r>
            <a:r>
              <a:rPr lang="ru-RU" sz="2100" dirty="0" smtClean="0"/>
              <a:t> </a:t>
            </a:r>
            <a:r>
              <a:rPr lang="ru-RU" sz="2100" dirty="0"/>
              <a:t>для тех, у кого баланс &gt;</a:t>
            </a:r>
            <a:r>
              <a:rPr lang="ru-RU" sz="2100" dirty="0" smtClean="0"/>
              <a:t>150k</a:t>
            </a:r>
          </a:p>
          <a:p>
            <a:pPr marL="109728" indent="0">
              <a:buNone/>
            </a:pPr>
            <a:endParaRPr lang="ru-RU" dirty="0" smtClean="0"/>
          </a:p>
          <a:p>
            <a:pPr marL="109728" indent="0">
              <a:buNone/>
            </a:pPr>
            <a:r>
              <a:rPr lang="ru-RU" dirty="0"/>
              <a:t>2) </a:t>
            </a:r>
            <a:r>
              <a:rPr lang="ru-RU" dirty="0" smtClean="0"/>
              <a:t>Активная </a:t>
            </a:r>
            <a:r>
              <a:rPr lang="ru-RU" dirty="0"/>
              <a:t>работа с жалобами</a:t>
            </a:r>
            <a:r>
              <a:rPr lang="ru-RU" dirty="0" smtClean="0"/>
              <a:t>:</a:t>
            </a:r>
          </a:p>
          <a:p>
            <a:pPr lvl="2">
              <a:buFontTx/>
              <a:buChar char="-"/>
            </a:pPr>
            <a:r>
              <a:rPr lang="ru-RU" dirty="0" smtClean="0"/>
              <a:t>Решение </a:t>
            </a:r>
            <a:r>
              <a:rPr lang="ru-RU" dirty="0"/>
              <a:t>проблемы в кратчайшие сроки </a:t>
            </a:r>
            <a:endParaRPr lang="ru-RU" dirty="0" smtClean="0"/>
          </a:p>
          <a:p>
            <a:pPr lvl="2">
              <a:buFontTx/>
              <a:buChar char="-"/>
            </a:pPr>
            <a:r>
              <a:rPr lang="ru-RU" dirty="0" smtClean="0"/>
              <a:t>автоматический </a:t>
            </a:r>
            <a:r>
              <a:rPr lang="ru-RU" dirty="0"/>
              <a:t>бонус после </a:t>
            </a:r>
            <a:r>
              <a:rPr lang="ru-RU" dirty="0" smtClean="0"/>
              <a:t>жалобы</a:t>
            </a:r>
          </a:p>
          <a:p>
            <a:pPr marL="630936" lvl="2" indent="0">
              <a:buNone/>
            </a:pPr>
            <a:endParaRPr lang="ru-RU" dirty="0"/>
          </a:p>
          <a:p>
            <a:pPr marL="630936" lvl="2" indent="0">
              <a:buNone/>
            </a:pPr>
            <a:r>
              <a:rPr lang="ru-RU" dirty="0" smtClean="0"/>
              <a:t> 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ru-RU" dirty="0" smtClean="0"/>
              <a:t>Рекомендации для отдела маркетинга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4653136"/>
            <a:ext cx="8280920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700" dirty="0" smtClean="0"/>
              <a:t> 3) Не навязывать продукты:</a:t>
            </a:r>
            <a:r>
              <a:rPr lang="ru-RU" dirty="0" smtClean="0"/>
              <a:t> 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 smtClean="0">
                <a:solidFill>
                  <a:srgbClr val="FF0000"/>
                </a:solidFill>
              </a:rPr>
              <a:t>        -</a:t>
            </a:r>
            <a:r>
              <a:rPr lang="ru-RU" dirty="0" smtClean="0"/>
              <a:t> фокус на качество, а не на количество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383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1800" dirty="0" smtClean="0"/>
              <a:t>Для прогнозирования оттока клиентов были протестированы несколько моделей, включая логистическую регрессию и случайный лес</a:t>
            </a:r>
          </a:p>
          <a:p>
            <a:endParaRPr lang="ru-RU" dirty="0"/>
          </a:p>
          <a:p>
            <a:r>
              <a:rPr lang="ru-RU" sz="2400" dirty="0" smtClean="0"/>
              <a:t>Обе модели показали хорошие результаты и обладают важными преимуществами:</a:t>
            </a:r>
          </a:p>
          <a:p>
            <a:pPr lvl="1"/>
            <a:r>
              <a:rPr lang="ru-RU" sz="1800" dirty="0" smtClean="0"/>
              <a:t>Логистическая регрессия – простота и интерпретируемость</a:t>
            </a:r>
          </a:p>
          <a:p>
            <a:pPr marL="393192" lvl="1" indent="0">
              <a:buNone/>
            </a:pPr>
            <a:endParaRPr lang="ru-RU" sz="800" dirty="0" smtClean="0"/>
          </a:p>
          <a:p>
            <a:pPr lvl="1"/>
            <a:r>
              <a:rPr lang="ru-RU" sz="1800" dirty="0" smtClean="0"/>
              <a:t>Случайный лес – баланс точности, устойчивости и интерпретируемости</a:t>
            </a:r>
            <a:endParaRPr lang="en-US" sz="1800" dirty="0" smtClean="0"/>
          </a:p>
          <a:p>
            <a:pPr marL="393192" lvl="1" indent="0">
              <a:buNone/>
            </a:pPr>
            <a:endParaRPr lang="ru-RU" sz="1800" dirty="0" smtClean="0"/>
          </a:p>
          <a:p>
            <a:pPr lvl="1"/>
            <a:endParaRPr lang="ru-RU" sz="1800" dirty="0"/>
          </a:p>
          <a:p>
            <a:pPr marL="393192" lvl="1" indent="0">
              <a:buNone/>
            </a:pPr>
            <a:endParaRPr lang="ru-RU" sz="18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 модели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11560" y="5013176"/>
            <a:ext cx="7704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/>
              <a:t>Однако по ключевым метрикам качества случайный лес продемонстрировал лучшие показатели, поэтому в качестве финальной модели была выбрана </a:t>
            </a:r>
            <a:r>
              <a:rPr lang="en-US" dirty="0" smtClean="0"/>
              <a:t>Random Forest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919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882547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ru-RU" sz="2400" dirty="0" smtClean="0"/>
              <a:t>  </a:t>
            </a:r>
            <a:endParaRPr lang="ru-RU" sz="2400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3600" dirty="0" smtClean="0"/>
              <a:t>Результаты модели </a:t>
            </a:r>
            <a:r>
              <a:rPr lang="en-US" sz="3600" dirty="0" smtClean="0"/>
              <a:t>Random Forest</a:t>
            </a:r>
            <a:endParaRPr lang="ru-RU" sz="36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45946" y="1412776"/>
            <a:ext cx="1944216" cy="7023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ROC-AUC: 0.93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872340"/>
              </p:ext>
            </p:extLst>
          </p:nvPr>
        </p:nvGraphicFramePr>
        <p:xfrm>
          <a:off x="3779913" y="1342265"/>
          <a:ext cx="532859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197"/>
                <a:gridCol w="1776197"/>
                <a:gridCol w="1776197"/>
              </a:tblGrid>
              <a:tr h="296711">
                <a:tc>
                  <a:txBody>
                    <a:bodyPr/>
                    <a:lstStyle/>
                    <a:p>
                      <a:r>
                        <a:rPr lang="ru-RU" dirty="0" smtClean="0"/>
                        <a:t>Класс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Precision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Recall</a:t>
                      </a:r>
                      <a:endParaRPr lang="ru-RU" dirty="0"/>
                    </a:p>
                  </a:txBody>
                  <a:tcPr/>
                </a:tc>
              </a:tr>
              <a:tr h="296711">
                <a:tc>
                  <a:txBody>
                    <a:bodyPr/>
                    <a:lstStyle/>
                    <a:p>
                      <a:r>
                        <a:rPr lang="ru-RU" dirty="0" smtClean="0"/>
                        <a:t>Остался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0.95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0.95</a:t>
                      </a:r>
                      <a:endParaRPr lang="ru-RU" dirty="0"/>
                    </a:p>
                  </a:txBody>
                  <a:tcPr/>
                </a:tc>
              </a:tr>
              <a:tr h="296711">
                <a:tc>
                  <a:txBody>
                    <a:bodyPr/>
                    <a:lstStyle/>
                    <a:p>
                      <a:r>
                        <a:rPr lang="ru-RU" dirty="0" smtClean="0"/>
                        <a:t>Ушел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0.79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0.79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Стрелка вниз 7"/>
          <p:cNvSpPr/>
          <p:nvPr/>
        </p:nvSpPr>
        <p:spPr>
          <a:xfrm>
            <a:off x="1656603" y="2259525"/>
            <a:ext cx="4571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07504" y="2716490"/>
            <a:ext cx="4011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Отличная способность модели разделять на группы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3959424" y="2577990"/>
            <a:ext cx="5184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Recall = 0.79 </a:t>
            </a:r>
            <a:r>
              <a:rPr lang="ru-RU" dirty="0" smtClean="0"/>
              <a:t>для класса </a:t>
            </a:r>
            <a:r>
              <a:rPr lang="en-US" dirty="0" smtClean="0"/>
              <a:t>‘‘</a:t>
            </a:r>
            <a:r>
              <a:rPr lang="ru-RU" dirty="0" smtClean="0"/>
              <a:t>ушел</a:t>
            </a:r>
            <a:r>
              <a:rPr lang="en-US" dirty="0" smtClean="0"/>
              <a:t>’’</a:t>
            </a:r>
            <a:r>
              <a:rPr lang="ru-RU" dirty="0" smtClean="0"/>
              <a:t> означает, что модель успешно выявляет 79% клиентов, которые действительно уйдут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34755"/>
            <a:ext cx="3984837" cy="3023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107504" y="3645024"/>
            <a:ext cx="9036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3779912" y="1412776"/>
            <a:ext cx="0" cy="2232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55976" y="4077072"/>
            <a:ext cx="45365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Низкие затраты       снижаем порог и ловим больше уходящих (     </a:t>
            </a:r>
            <a:r>
              <a:rPr lang="en-US" dirty="0" smtClean="0"/>
              <a:t>Recall)</a:t>
            </a:r>
          </a:p>
          <a:p>
            <a:endParaRPr lang="en-US" dirty="0"/>
          </a:p>
          <a:p>
            <a:r>
              <a:rPr lang="ru-RU" dirty="0" smtClean="0"/>
              <a:t>Высокие затраты      повышаем порог и меньше ложных срабатываний </a:t>
            </a:r>
          </a:p>
          <a:p>
            <a:r>
              <a:rPr lang="ru-RU" dirty="0" smtClean="0"/>
              <a:t>(     </a:t>
            </a:r>
            <a:r>
              <a:rPr lang="en-US" dirty="0" smtClean="0"/>
              <a:t>Precision)</a:t>
            </a:r>
          </a:p>
          <a:p>
            <a:endParaRPr lang="ru-RU" dirty="0"/>
          </a:p>
        </p:txBody>
      </p:sp>
      <p:sp>
        <p:nvSpPr>
          <p:cNvPr id="20" name="Стрелка вправо 19"/>
          <p:cNvSpPr/>
          <p:nvPr/>
        </p:nvSpPr>
        <p:spPr>
          <a:xfrm>
            <a:off x="6335688" y="4213765"/>
            <a:ext cx="21602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трелка вниз 21"/>
          <p:cNvSpPr/>
          <p:nvPr/>
        </p:nvSpPr>
        <p:spPr>
          <a:xfrm flipV="1">
            <a:off x="7524328" y="4400237"/>
            <a:ext cx="144016" cy="1864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 вправо 23"/>
          <p:cNvSpPr/>
          <p:nvPr/>
        </p:nvSpPr>
        <p:spPr>
          <a:xfrm>
            <a:off x="6481257" y="5013176"/>
            <a:ext cx="21602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Стрелка вниз 25"/>
          <p:cNvSpPr/>
          <p:nvPr/>
        </p:nvSpPr>
        <p:spPr>
          <a:xfrm flipV="1">
            <a:off x="4635740" y="5496004"/>
            <a:ext cx="144016" cy="1864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49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5838</TotalTime>
  <Words>567</Words>
  <Application>Microsoft Office PowerPoint</Application>
  <PresentationFormat>Экран (4:3)</PresentationFormat>
  <Paragraphs>136</Paragraphs>
  <Slides>11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Открытая</vt:lpstr>
      <vt:lpstr>Прогнозирование оттока клиентов анонимного банка</vt:lpstr>
      <vt:lpstr>Постановка проблемы и задач</vt:lpstr>
      <vt:lpstr>Описание датасета</vt:lpstr>
      <vt:lpstr>Методология</vt:lpstr>
      <vt:lpstr>Разведовочный анализ </vt:lpstr>
      <vt:lpstr>Разведовочный анализ</vt:lpstr>
      <vt:lpstr>Разведовочный анализ</vt:lpstr>
      <vt:lpstr>Портреты клиентов оттока</vt:lpstr>
      <vt:lpstr>Рекомендации для отдела маркетинга</vt:lpstr>
      <vt:lpstr>Выбор модели</vt:lpstr>
      <vt:lpstr>Результаты модели Random Forest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Прогнозирование оттока клиентов анонимного банка</dc:title>
  <dc:creator>Носачева Ирина Вадимовна</dc:creator>
  <cp:lastModifiedBy>Носачева Ирина Вадимовна</cp:lastModifiedBy>
  <cp:revision>22</cp:revision>
  <dcterms:created xsi:type="dcterms:W3CDTF">2025-10-20T05:59:53Z</dcterms:created>
  <dcterms:modified xsi:type="dcterms:W3CDTF">2025-10-24T07:20:22Z</dcterms:modified>
</cp:coreProperties>
</file>